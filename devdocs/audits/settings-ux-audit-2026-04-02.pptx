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Parent ProjectSettings fetches getUserProjects and filters client-side.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F1: mcp-server-editor.tsx:313. F2: custom-instructions-editor.tsx:158, oauth-settings.tsx:398, skills-section.tsx:145.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F5: project-settings.tsx:290. F6: No beforeunload handler. F7: settings-skeletons.tsx:34. F8: project-settings.tsx:482.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Consolidate prop-sync into a single effect or custom hook.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image" Target="../media/image-18-3.png"/><Relationship Id="rId4" Type="http://schemas.openxmlformats.org/officeDocument/2006/relationships/image" Target="../media/image-18-4.svg"/><Relationship Id="rId5" Type="http://schemas.openxmlformats.org/officeDocument/2006/relationships/image" Target="../media/image-18-5.png"/><Relationship Id="rId6" Type="http://schemas.openxmlformats.org/officeDocument/2006/relationships/image" Target="../media/image-18-6.svg"/><Relationship Id="rId7" Type="http://schemas.openxmlformats.org/officeDocument/2006/relationships/image" Target="../media/image-18-7.png"/><Relationship Id="rId8" Type="http://schemas.openxmlformats.org/officeDocument/2006/relationships/image" Target="../media/image-18-8.svg"/><Relationship Id="rId9" Type="http://schemas.openxmlformats.org/officeDocument/2006/relationships/image" Target="../media/image-18-9.png"/><Relationship Id="rId10" Type="http://schemas.openxmlformats.org/officeDocument/2006/relationships/image" Target="../media/image-18-10.svg"/><Relationship Id="rId11" Type="http://schemas.openxmlformats.org/officeDocument/2006/relationships/image" Target="../media/image-18-11.png"/><Relationship Id="rId12" Type="http://schemas.openxmlformats.org/officeDocument/2006/relationships/image" Target="../media/image-18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31520"/>
            <a:ext cx="7315200" cy="2926080"/>
          </a:xfrm>
          <a:prstGeom prst="roundRect">
            <a:avLst>
              <a:gd name="adj" fmla="val 4688"/>
            </a:avLst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00584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64592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AFA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Settings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914400" y="246888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7C96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UX Audit</a:t>
            </a:r>
            <a:endParaRPr lang="en-US" sz="7200" dirty="0"/>
          </a:p>
        </p:txBody>
      </p:sp>
      <p:sp>
        <p:nvSpPr>
          <p:cNvPr id="6" name="Shape 3"/>
          <p:cNvSpPr/>
          <p:nvPr/>
        </p:nvSpPr>
        <p:spPr>
          <a:xfrm>
            <a:off x="548640" y="3931920"/>
            <a:ext cx="7315200" cy="914400"/>
          </a:xfrm>
          <a:prstGeom prst="roundRect">
            <a:avLst>
              <a:gd name="adj" fmla="val 15000"/>
            </a:avLst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40233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AFA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Tambo Cloud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3108960" y="40233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717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/  apps/web  /  Project Settings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48640" y="5120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17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April 2, 2026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27272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7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Settings UX Audit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717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 / 20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32004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228600"/>
            <a:ext cx="105457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AFA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Agenda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548640" y="960120"/>
            <a:ext cx="11094415" cy="5349240"/>
          </a:xfrm>
          <a:prstGeom prst="roundRect">
            <a:avLst>
              <a:gd name="adj" fmla="val 2564"/>
            </a:avLst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1143000"/>
            <a:ext cx="10545775" cy="4983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Bef>
                <a:spcPts val="1000"/>
              </a:spcBef>
              <a:buSzPct val="100000"/>
              <a:buChar char="•"/>
            </a:pPr>
            <a:r>
              <a:rPr lang="en-US" sz="28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Page architecture and section inventory</a:t>
            </a:r>
            <a:endParaRPr lang="en-US" sz="2800" dirty="0"/>
          </a:p>
          <a:p>
            <a:pPr marL="342900" indent="-342900">
              <a:lnSpc>
                <a:spcPct val="125000"/>
              </a:lnSpc>
              <a:spcBef>
                <a:spcPts val="1000"/>
              </a:spcBef>
              <a:buSzPct val="100000"/>
              <a:buChar char="•"/>
            </a:pPr>
            <a:r>
              <a:rPr lang="en-US" sz="28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Established patterns -- what the settings page does consistently</a:t>
            </a:r>
            <a:endParaRPr lang="en-US" sz="2800" dirty="0"/>
          </a:p>
          <a:p>
            <a:pPr marL="342900" indent="-342900">
              <a:lnSpc>
                <a:spcPct val="125000"/>
              </a:lnSpc>
              <a:spcBef>
                <a:spcPts val="1000"/>
              </a:spcBef>
              <a:buSzPct val="100000"/>
              <a:buChar char="•"/>
            </a:pPr>
            <a:r>
              <a:rPr lang="en-US" sz="28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Blockers -- 2 issues that actively mislead users</a:t>
            </a:r>
            <a:endParaRPr lang="en-US" sz="2800" dirty="0"/>
          </a:p>
          <a:p>
            <a:pPr marL="342900" indent="-342900">
              <a:lnSpc>
                <a:spcPct val="125000"/>
              </a:lnSpc>
              <a:spcBef>
                <a:spcPts val="1000"/>
              </a:spcBef>
              <a:buSzPct val="100000"/>
              <a:buChar char="•"/>
            </a:pPr>
            <a:r>
              <a:rPr lang="en-US" sz="28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Friction -- 8 inconsistencies that erode trust</a:t>
            </a:r>
            <a:endParaRPr lang="en-US" sz="2800" dirty="0"/>
          </a:p>
          <a:p>
            <a:pPr marL="342900" indent="-342900">
              <a:lnSpc>
                <a:spcPct val="125000"/>
              </a:lnSpc>
              <a:spcBef>
                <a:spcPts val="1000"/>
              </a:spcBef>
              <a:buSzPct val="100000"/>
              <a:buChar char="•"/>
            </a:pPr>
            <a:r>
              <a:rPr lang="en-US" sz="28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What's working well -- patterns worth protecting</a:t>
            </a:r>
            <a:endParaRPr lang="en-US" sz="2800" dirty="0"/>
          </a:p>
          <a:p>
            <a:pPr marL="342900" indent="-342900">
              <a:lnSpc>
                <a:spcPct val="125000"/>
              </a:lnSpc>
              <a:spcBef>
                <a:spcPts val="1000"/>
              </a:spcBef>
              <a:buSzPct val="100000"/>
              <a:buChar char="•"/>
            </a:pPr>
            <a:r>
              <a:rPr lang="en-US" sz="28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Performance and accessibility flags</a:t>
            </a:r>
            <a:endParaRPr lang="en-US" sz="2800" dirty="0"/>
          </a:p>
          <a:p>
            <a:pPr marL="342900" indent="-342900">
              <a:lnSpc>
                <a:spcPct val="125000"/>
              </a:lnSpc>
              <a:spcBef>
                <a:spcPts val="1000"/>
              </a:spcBef>
              <a:buSzPct val="100000"/>
              <a:buChar char="•"/>
            </a:pPr>
            <a:r>
              <a:rPr lang="en-US" sz="28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Prioritized recommendations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27272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7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Settings UX Audit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717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 / 20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32004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228600"/>
            <a:ext cx="105457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AFA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Page Architecture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548640" y="960120"/>
            <a:ext cx="11094415" cy="5349240"/>
          </a:xfrm>
          <a:prstGeom prst="roundRect">
            <a:avLst>
              <a:gd name="adj" fmla="val 2564"/>
            </a:avLst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1143000"/>
            <a:ext cx="10545775" cy="4983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Bef>
                <a:spcPts val="1000"/>
              </a:spcBef>
              <a:buSzPct val="100000"/>
              <a:buChar char="•"/>
            </a:pPr>
            <a:r>
              <a:rPr lang="en-US" sz="28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Single scrolling page, 7 card sections, no sub-routes</a:t>
            </a:r>
            <a:endParaRPr lang="en-US" sz="2800" dirty="0"/>
          </a:p>
          <a:p>
            <a:pPr marL="342900" indent="-342900">
              <a:lnSpc>
                <a:spcPct val="125000"/>
              </a:lnSpc>
              <a:spcBef>
                <a:spcPts val="1000"/>
              </a:spcBef>
              <a:buSzPct val="100000"/>
              <a:buChar char="•"/>
            </a:pPr>
            <a:r>
              <a:rPr lang="en-US" sz="28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Desktop: sticky sidebar nav  /  Mobile: collapsible dropdown</a:t>
            </a:r>
            <a:endParaRPr lang="en-US" sz="2800" dirty="0"/>
          </a:p>
          <a:p>
            <a:pPr marL="342900" indent="-342900">
              <a:lnSpc>
                <a:spcPct val="125000"/>
              </a:lnSpc>
              <a:spcBef>
                <a:spcPts val="1000"/>
              </a:spcBef>
              <a:buSzPct val="100000"/>
              <a:buChar char="•"/>
            </a:pPr>
            <a:r>
              <a:rPr lang="en-US" sz="28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8+ tRPC queries fire simultaneously on page load</a:t>
            </a:r>
            <a:endParaRPr lang="en-US" sz="2800" dirty="0"/>
          </a:p>
          <a:p>
            <a:pPr marL="342900" indent="-342900">
              <a:lnSpc>
                <a:spcPct val="125000"/>
              </a:lnSpc>
              <a:spcBef>
                <a:spcPts val="1000"/>
              </a:spcBef>
              <a:buSzPct val="100000"/>
              <a:buChar char="•"/>
            </a:pPr>
            <a:r>
              <a:rPr lang="en-US" sz="28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API Keys, LLM Providers, Custom Instructions, Skills, MCP Servers, Tool Call Limit, OAuth</a:t>
            </a:r>
            <a:endParaRPr lang="en-US" sz="2800" dirty="0"/>
          </a:p>
        </p:txBody>
      </p:sp>
      <p:sp>
        <p:nvSpPr>
          <p:cNvPr id="7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27272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7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Settings UX Audit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717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/ 20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272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8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310896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0175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AFA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Established Patterns</a:t>
            </a:r>
            <a:endParaRPr lang="en-US" sz="6000" dirty="0"/>
          </a:p>
        </p:txBody>
      </p:sp>
      <p:sp>
        <p:nvSpPr>
          <p:cNvPr id="5" name="Shape 2"/>
          <p:cNvSpPr/>
          <p:nvPr/>
        </p:nvSpPr>
        <p:spPr>
          <a:xfrm>
            <a:off x="548640" y="3977640"/>
            <a:ext cx="2286000" cy="64008"/>
          </a:xfrm>
          <a:prstGeom prst="roundRect">
            <a:avLst>
              <a:gd name="adj" fmla="val 50000"/>
            </a:avLst>
          </a:prstGeom>
          <a:solidFill>
            <a:srgbClr val="17C96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27272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7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Settings UX Audit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717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 / 20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32004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228600"/>
            <a:ext cx="105457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AFA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What's Consistent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548640" y="960120"/>
            <a:ext cx="11094415" cy="5349240"/>
          </a:xfrm>
          <a:prstGeom prst="roundRect">
            <a:avLst>
              <a:gd name="adj" fmla="val 2564"/>
            </a:avLst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1143000"/>
            <a:ext cx="10545775" cy="4983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Bef>
                <a:spcPts val="1000"/>
              </a:spcBef>
              <a:buSzPct val="100000"/>
              <a:buChar char="•"/>
            </a:pPr>
            <a:r>
              <a:rPr lang="en-US" sz="28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Card-per-section layout with CardHeader + CardContent</a:t>
            </a:r>
            <a:endParaRPr lang="en-US" sz="2800" dirty="0"/>
          </a:p>
          <a:p>
            <a:pPr marL="342900" indent="-342900">
              <a:lnSpc>
                <a:spcPct val="125000"/>
              </a:lnSpc>
              <a:spcBef>
                <a:spcPts val="1000"/>
              </a:spcBef>
              <a:buSzPct val="100000"/>
              <a:buChar char="•"/>
            </a:pPr>
            <a:r>
              <a:rPr lang="en-US" sz="28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Explicit save buttons -- disabled state + spinner during mutations</a:t>
            </a:r>
            <a:endParaRPr lang="en-US" sz="2800" dirty="0"/>
          </a:p>
          <a:p>
            <a:pPr marL="342900" indent="-342900">
              <a:lnSpc>
                <a:spcPct val="125000"/>
              </a:lnSpc>
              <a:spcBef>
                <a:spcPts val="1000"/>
              </a:spcBef>
              <a:buSzPct val="100000"/>
              <a:buChar char="•"/>
            </a:pPr>
            <a:r>
              <a:rPr lang="en-US" sz="28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Toast notifications on every mutation success and error</a:t>
            </a:r>
            <a:endParaRPr lang="en-US" sz="2800" dirty="0"/>
          </a:p>
          <a:p>
            <a:pPr marL="342900" indent="-342900">
              <a:lnSpc>
                <a:spcPct val="125000"/>
              </a:lnSpc>
              <a:spcBef>
                <a:spcPts val="1000"/>
              </a:spcBef>
              <a:buSzPct val="100000"/>
              <a:buChar char="•"/>
            </a:pPr>
            <a:r>
              <a:rPr lang="en-US" sz="28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DeleteConfirmationDialog for destructive actions</a:t>
            </a:r>
            <a:endParaRPr lang="en-US" sz="2800" dirty="0"/>
          </a:p>
          <a:p>
            <a:pPr marL="342900" indent="-342900">
              <a:lnSpc>
                <a:spcPct val="125000"/>
              </a:lnSpc>
              <a:spcBef>
                <a:spcPts val="1000"/>
              </a:spcBef>
              <a:buSzPct val="100000"/>
              <a:buChar char="•"/>
            </a:pPr>
            <a:r>
              <a:rPr lang="en-US" sz="28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AnimatePresence for show/hide transitions at ~0.3s</a:t>
            </a:r>
            <a:endParaRPr lang="en-US" sz="2800" dirty="0"/>
          </a:p>
          <a:p>
            <a:pPr marL="342900" indent="-342900">
              <a:lnSpc>
                <a:spcPct val="125000"/>
              </a:lnSpc>
              <a:spcBef>
                <a:spcPts val="1000"/>
              </a:spcBef>
              <a:buSzPct val="100000"/>
              <a:buChar char="•"/>
            </a:pPr>
            <a:r>
              <a:rPr lang="en-US" sz="28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EditWithTamboButton in every section title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27272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7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Settings UX Audit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717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 / 20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272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8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310896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0175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AFA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Blockers</a:t>
            </a:r>
            <a:endParaRPr lang="en-US" sz="6000" dirty="0"/>
          </a:p>
        </p:txBody>
      </p:sp>
      <p:sp>
        <p:nvSpPr>
          <p:cNvPr id="5" name="Shape 2"/>
          <p:cNvSpPr/>
          <p:nvPr/>
        </p:nvSpPr>
        <p:spPr>
          <a:xfrm>
            <a:off x="548640" y="3977640"/>
            <a:ext cx="2286000" cy="64008"/>
          </a:xfrm>
          <a:prstGeom prst="roundRect">
            <a:avLst>
              <a:gd name="adj" fmla="val 50000"/>
            </a:avLst>
          </a:prstGeom>
          <a:solidFill>
            <a:srgbClr val="17C96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27272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7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Settings UX Audit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717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 / 20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32004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228600"/>
            <a:ext cx="105457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AFA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Copying a Masked API Key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548640" y="960120"/>
            <a:ext cx="11094415" cy="1255014"/>
          </a:xfrm>
          <a:prstGeom prst="roundRect">
            <a:avLst>
              <a:gd name="adj" fmla="val 8743"/>
            </a:avLst>
          </a:prstGeom>
          <a:solidFill>
            <a:srgbClr val="310413"/>
          </a:solidFill>
          <a:ln w="9525">
            <a:solidFill>
              <a:srgbClr val="F31260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2960" y="1427607"/>
            <a:ext cx="320040" cy="3200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80160" y="960120"/>
            <a:ext cx="2194560" cy="12550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312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HAPPENS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3474720" y="960120"/>
            <a:ext cx="7985455" cy="12550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FAFA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Click-to-copy copies "sk-abc...xyz" -- a truncated, useless string</a:t>
            </a:r>
            <a:endParaRPr lang="en-US" sz="2400" dirty="0"/>
          </a:p>
        </p:txBody>
      </p:sp>
      <p:sp>
        <p:nvSpPr>
          <p:cNvPr id="8" name="Shape 4"/>
          <p:cNvSpPr/>
          <p:nvPr/>
        </p:nvSpPr>
        <p:spPr>
          <a:xfrm>
            <a:off x="548640" y="2324862"/>
            <a:ext cx="11094415" cy="1255014"/>
          </a:xfrm>
          <a:prstGeom prst="roundRect">
            <a:avLst>
              <a:gd name="adj" fmla="val 8743"/>
            </a:avLst>
          </a:prstGeom>
          <a:solidFill>
            <a:srgbClr val="310413"/>
          </a:solidFill>
          <a:ln w="9525">
            <a:solidFill>
              <a:srgbClr val="F31260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2792349"/>
            <a:ext cx="320040" cy="3200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80160" y="2324862"/>
            <a:ext cx="2194560" cy="12550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312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USER IMPACT</a:t>
            </a:r>
            <a:endParaRPr lang="en-US" sz="2000" dirty="0"/>
          </a:p>
        </p:txBody>
      </p:sp>
      <p:sp>
        <p:nvSpPr>
          <p:cNvPr id="11" name="Text 6"/>
          <p:cNvSpPr/>
          <p:nvPr/>
        </p:nvSpPr>
        <p:spPr>
          <a:xfrm>
            <a:off x="3474720" y="2324862"/>
            <a:ext cx="7985455" cy="12550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FAFA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Users paste a masked key into code, get auth errors, blame the platform</a:t>
            </a:r>
            <a:endParaRPr lang="en-US" sz="2400" dirty="0"/>
          </a:p>
        </p:txBody>
      </p:sp>
      <p:sp>
        <p:nvSpPr>
          <p:cNvPr id="12" name="Shape 7"/>
          <p:cNvSpPr/>
          <p:nvPr/>
        </p:nvSpPr>
        <p:spPr>
          <a:xfrm>
            <a:off x="548640" y="3689604"/>
            <a:ext cx="11094415" cy="1255014"/>
          </a:xfrm>
          <a:prstGeom prst="roundRect">
            <a:avLst>
              <a:gd name="adj" fmla="val 8743"/>
            </a:avLst>
          </a:prstGeom>
          <a:solidFill>
            <a:srgbClr val="18181B"/>
          </a:solidFill>
          <a:ln w="9525">
            <a:solidFill>
              <a:srgbClr val="3F3F46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2960" y="4157091"/>
            <a:ext cx="320040" cy="32004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80160" y="3689604"/>
            <a:ext cx="2194560" cy="12550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17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ROOT CAUSE</a:t>
            </a:r>
            <a:endParaRPr lang="en-US" sz="2000" dirty="0"/>
          </a:p>
        </p:txBody>
      </p:sp>
      <p:sp>
        <p:nvSpPr>
          <p:cNvPr id="15" name="Text 9"/>
          <p:cNvSpPr/>
          <p:nvPr/>
        </p:nvSpPr>
        <p:spPr>
          <a:xfrm>
            <a:off x="3474720" y="3689604"/>
            <a:ext cx="7985455" cy="12550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FAFA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api-key-list-item.tsx:36 copies partiallyHiddenKey</a:t>
            </a:r>
            <a:endParaRPr lang="en-US" sz="2400" dirty="0"/>
          </a:p>
        </p:txBody>
      </p:sp>
      <p:sp>
        <p:nvSpPr>
          <p:cNvPr id="16" name="Shape 10"/>
          <p:cNvSpPr/>
          <p:nvPr/>
        </p:nvSpPr>
        <p:spPr>
          <a:xfrm>
            <a:off x="548640" y="5054346"/>
            <a:ext cx="11094415" cy="1255014"/>
          </a:xfrm>
          <a:prstGeom prst="roundRect">
            <a:avLst>
              <a:gd name="adj" fmla="val 8743"/>
            </a:avLst>
          </a:prstGeom>
          <a:solidFill>
            <a:srgbClr val="0A2617"/>
          </a:solidFill>
          <a:ln w="9525">
            <a:solidFill>
              <a:srgbClr val="17C964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22960" y="5521833"/>
            <a:ext cx="320040" cy="32004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80160" y="5054346"/>
            <a:ext cx="2194560" cy="12550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C96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RECOMMENDATION</a:t>
            </a:r>
            <a:endParaRPr lang="en-US" sz="2000" dirty="0"/>
          </a:p>
        </p:txBody>
      </p:sp>
      <p:sp>
        <p:nvSpPr>
          <p:cNvPr id="19" name="Text 12"/>
          <p:cNvSpPr/>
          <p:nvPr/>
        </p:nvSpPr>
        <p:spPr>
          <a:xfrm>
            <a:off x="3474720" y="5054346"/>
            <a:ext cx="7985455" cy="12550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FAFA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Remove click-to-copy on masked keys. Full keys only available at creation.</a:t>
            </a:r>
            <a:endParaRPr lang="en-US" sz="2400" dirty="0"/>
          </a:p>
        </p:txBody>
      </p:sp>
      <p:sp>
        <p:nvSpPr>
          <p:cNvPr id="20" name="Shape 1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27272A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7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Settings UX Audit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717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 / 20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32004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228600"/>
            <a:ext cx="105457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AFA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Clipboard Feedback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548640" y="960120"/>
            <a:ext cx="11094415" cy="1255014"/>
          </a:xfrm>
          <a:prstGeom prst="roundRect">
            <a:avLst>
              <a:gd name="adj" fmla="val 8743"/>
            </a:avLst>
          </a:prstGeom>
          <a:solidFill>
            <a:srgbClr val="310413"/>
          </a:solidFill>
          <a:ln w="9525">
            <a:solidFill>
              <a:srgbClr val="F31260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2960" y="1427607"/>
            <a:ext cx="320040" cy="3200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80160" y="960120"/>
            <a:ext cx="2194560" cy="12550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312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HAPPENS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3474720" y="960120"/>
            <a:ext cx="7985455" cy="12550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FAFA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User clicks Copy, nothing visible happens. No toast, no icon change.</a:t>
            </a:r>
            <a:endParaRPr lang="en-US" sz="2400" dirty="0"/>
          </a:p>
        </p:txBody>
      </p:sp>
      <p:sp>
        <p:nvSpPr>
          <p:cNvPr id="8" name="Shape 4"/>
          <p:cNvSpPr/>
          <p:nvPr/>
        </p:nvSpPr>
        <p:spPr>
          <a:xfrm>
            <a:off x="548640" y="2324862"/>
            <a:ext cx="11094415" cy="1255014"/>
          </a:xfrm>
          <a:prstGeom prst="roundRect">
            <a:avLst>
              <a:gd name="adj" fmla="val 8743"/>
            </a:avLst>
          </a:prstGeom>
          <a:solidFill>
            <a:srgbClr val="18181B"/>
          </a:solidFill>
          <a:ln w="9525">
            <a:solidFill>
              <a:srgbClr val="3F3F46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2792349"/>
            <a:ext cx="320040" cy="3200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80160" y="2324862"/>
            <a:ext cx="2194560" cy="12550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17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WHERE</a:t>
            </a:r>
            <a:endParaRPr lang="en-US" sz="2000" dirty="0"/>
          </a:p>
        </p:txBody>
      </p:sp>
      <p:sp>
        <p:nvSpPr>
          <p:cNvPr id="11" name="Text 6"/>
          <p:cNvSpPr/>
          <p:nvPr/>
        </p:nvSpPr>
        <p:spPr>
          <a:xfrm>
            <a:off x="3474720" y="2324862"/>
            <a:ext cx="7985455" cy="12550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FAFA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api-key-list.tsx:107 and api-key-list-item.tsx:36 -- "copied" boolean ignored</a:t>
            </a:r>
            <a:endParaRPr lang="en-US" sz="2400" dirty="0"/>
          </a:p>
        </p:txBody>
      </p:sp>
      <p:sp>
        <p:nvSpPr>
          <p:cNvPr id="12" name="Shape 7"/>
          <p:cNvSpPr/>
          <p:nvPr/>
        </p:nvSpPr>
        <p:spPr>
          <a:xfrm>
            <a:off x="548640" y="3689604"/>
            <a:ext cx="11094415" cy="1255014"/>
          </a:xfrm>
          <a:prstGeom prst="roundRect">
            <a:avLst>
              <a:gd name="adj" fmla="val 8743"/>
            </a:avLst>
          </a:prstGeom>
          <a:solidFill>
            <a:srgbClr val="18181B"/>
          </a:solidFill>
          <a:ln w="9525">
            <a:solidFill>
              <a:srgbClr val="3F3F46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2960" y="4157091"/>
            <a:ext cx="320040" cy="32004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80160" y="3689604"/>
            <a:ext cx="2194560" cy="12550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17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CONTRAST</a:t>
            </a:r>
            <a:endParaRPr lang="en-US" sz="2000" dirty="0"/>
          </a:p>
        </p:txBody>
      </p:sp>
      <p:sp>
        <p:nvSpPr>
          <p:cNvPr id="15" name="Text 9"/>
          <p:cNvSpPr/>
          <p:nvPr/>
        </p:nvSpPr>
        <p:spPr>
          <a:xfrm>
            <a:off x="3474720" y="3689604"/>
            <a:ext cx="7985455" cy="12550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FAFA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APIKeyDialog does it right: icon swaps to checkmark for 2 seconds</a:t>
            </a:r>
            <a:endParaRPr lang="en-US" sz="2400" dirty="0"/>
          </a:p>
        </p:txBody>
      </p:sp>
      <p:sp>
        <p:nvSpPr>
          <p:cNvPr id="16" name="Shape 10"/>
          <p:cNvSpPr/>
          <p:nvPr/>
        </p:nvSpPr>
        <p:spPr>
          <a:xfrm>
            <a:off x="548640" y="5054346"/>
            <a:ext cx="11094415" cy="1255014"/>
          </a:xfrm>
          <a:prstGeom prst="roundRect">
            <a:avLst>
              <a:gd name="adj" fmla="val 8743"/>
            </a:avLst>
          </a:prstGeom>
          <a:solidFill>
            <a:srgbClr val="0A2617"/>
          </a:solidFill>
          <a:ln w="9525">
            <a:solidFill>
              <a:srgbClr val="17C964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22960" y="5521833"/>
            <a:ext cx="320040" cy="32004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80160" y="5054346"/>
            <a:ext cx="2194560" cy="12550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C96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RECOMMENDATION</a:t>
            </a:r>
            <a:endParaRPr lang="en-US" sz="2000" dirty="0"/>
          </a:p>
        </p:txBody>
      </p:sp>
      <p:sp>
        <p:nvSpPr>
          <p:cNvPr id="19" name="Text 12"/>
          <p:cNvSpPr/>
          <p:nvPr/>
        </p:nvSpPr>
        <p:spPr>
          <a:xfrm>
            <a:off x="3474720" y="5054346"/>
            <a:ext cx="7985455" cy="12550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FAFA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 useClipboard's copied boolean to show "Copied!" state everywhere</a:t>
            </a:r>
            <a:endParaRPr lang="en-US" sz="2400" dirty="0"/>
          </a:p>
        </p:txBody>
      </p:sp>
      <p:sp>
        <p:nvSpPr>
          <p:cNvPr id="20" name="Shape 1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27272A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7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Settings UX Audit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717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 / 20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272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8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310896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0175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AFA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Friction Points</a:t>
            </a:r>
            <a:endParaRPr lang="en-US" sz="6000" dirty="0"/>
          </a:p>
        </p:txBody>
      </p:sp>
      <p:sp>
        <p:nvSpPr>
          <p:cNvPr id="5" name="Shape 2"/>
          <p:cNvSpPr/>
          <p:nvPr/>
        </p:nvSpPr>
        <p:spPr>
          <a:xfrm>
            <a:off x="548640" y="3977640"/>
            <a:ext cx="2286000" cy="64008"/>
          </a:xfrm>
          <a:prstGeom prst="roundRect">
            <a:avLst>
              <a:gd name="adj" fmla="val 50000"/>
            </a:avLst>
          </a:prstGeom>
          <a:solidFill>
            <a:srgbClr val="17C96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27272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7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Settings UX Audit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717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 / 20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32004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228600"/>
            <a:ext cx="105457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AFA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Inconsistent Behaviors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548640" y="960120"/>
            <a:ext cx="11094415" cy="5349240"/>
          </a:xfrm>
          <a:prstGeom prst="roundRect">
            <a:avLst>
              <a:gd name="adj" fmla="val 2564"/>
            </a:avLst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1143000"/>
            <a:ext cx="10545775" cy="4983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Bef>
                <a:spcPts val="1000"/>
              </a:spcBef>
              <a:buSzPct val="100000"/>
              <a:buChar char="•"/>
            </a:pPr>
            <a:r>
              <a:rPr lang="en-US" sz="28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F1: MCP server delete has no confirmation -- single click deletes permanently</a:t>
            </a:r>
            <a:endParaRPr lang="en-US" sz="2800" dirty="0"/>
          </a:p>
          <a:p>
            <a:pPr marL="342900" indent="-342900">
              <a:lnSpc>
                <a:spcPct val="125000"/>
              </a:lnSpc>
              <a:spcBef>
                <a:spcPts val="1000"/>
              </a:spcBef>
              <a:buSzPct val="100000"/>
              <a:buChar char="•"/>
            </a:pPr>
            <a:r>
              <a:rPr lang="en-US" sz="28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F2: Three toggles, three save behaviors -- immediate, deferred, hybrid</a:t>
            </a:r>
            <a:endParaRPr lang="en-US" sz="2800" dirty="0"/>
          </a:p>
          <a:p>
            <a:pPr marL="342900" indent="-342900">
              <a:lnSpc>
                <a:spcPct val="125000"/>
              </a:lnSpc>
              <a:spcBef>
                <a:spcPts val="1000"/>
              </a:spcBef>
              <a:buSzPct val="100000"/>
              <a:buChar char="•"/>
            </a:pPr>
            <a:r>
              <a:rPr lang="en-US" sz="28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F3: Sidebar says "User Authentication", card says "OAuth Token Validation"</a:t>
            </a:r>
            <a:endParaRPr lang="en-US" sz="2800" dirty="0"/>
          </a:p>
          <a:p>
            <a:pPr marL="342900" indent="-342900">
              <a:lnSpc>
                <a:spcPct val="125000"/>
              </a:lnSpc>
              <a:spcBef>
                <a:spcPts val="1000"/>
              </a:spcBef>
              <a:buSzPct val="100000"/>
              <a:buChar char="•"/>
            </a:pPr>
            <a:r>
              <a:rPr lang="en-US" sz="28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F4: Sidebar does not scroll-track -- only updates on click</a:t>
            </a:r>
            <a:endParaRPr lang="en-US" sz="2800" dirty="0"/>
          </a:p>
        </p:txBody>
      </p:sp>
      <p:sp>
        <p:nvSpPr>
          <p:cNvPr id="7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27272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7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Settings UX Audit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717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 / 20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32004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228600"/>
            <a:ext cx="105457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AFA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Missing Safeguards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548640" y="960120"/>
            <a:ext cx="11094415" cy="5349240"/>
          </a:xfrm>
          <a:prstGeom prst="roundRect">
            <a:avLst>
              <a:gd name="adj" fmla="val 2564"/>
            </a:avLst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1143000"/>
            <a:ext cx="10545775" cy="4983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Bef>
                <a:spcPts val="1000"/>
              </a:spcBef>
              <a:buSzPct val="100000"/>
              <a:buChar char="•"/>
            </a:pPr>
            <a:r>
              <a:rPr lang="en-US" sz="28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F5: Mobile nav shows raw slug instead of display label</a:t>
            </a:r>
            <a:endParaRPr lang="en-US" sz="2800" dirty="0"/>
          </a:p>
          <a:p>
            <a:pPr marL="342900" indent="-342900">
              <a:lnSpc>
                <a:spcPct val="125000"/>
              </a:lnSpc>
              <a:spcBef>
                <a:spcPts val="1000"/>
              </a:spcBef>
              <a:buSzPct val="100000"/>
              <a:buChar char="•"/>
            </a:pPr>
            <a:r>
              <a:rPr lang="en-US" sz="28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F6: No unsaved-changes warning -- edits silently lost on navigate</a:t>
            </a:r>
            <a:endParaRPr lang="en-US" sz="2800" dirty="0"/>
          </a:p>
          <a:p>
            <a:pPr marL="342900" indent="-342900">
              <a:lnSpc>
                <a:spcPct val="125000"/>
              </a:lnSpc>
              <a:spcBef>
                <a:spcPts val="1000"/>
              </a:spcBef>
              <a:buSzPct val="100000"/>
              <a:buChar char="•"/>
            </a:pPr>
            <a:r>
              <a:rPr lang="en-US" sz="28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F7: Skeleton shows 5 sections, real page has 7</a:t>
            </a:r>
            <a:endParaRPr lang="en-US" sz="2800" dirty="0"/>
          </a:p>
          <a:p>
            <a:pPr marL="342900" indent="-342900">
              <a:lnSpc>
                <a:spcPct val="125000"/>
              </a:lnSpc>
              <a:spcBef>
                <a:spcPts val="1000"/>
              </a:spcBef>
              <a:buSzPct val="100000"/>
              <a:buChar char="•"/>
            </a:pPr>
            <a:r>
              <a:rPr lang="en-US" sz="28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F8: Scrollbar force-hidden -- no scroll affordance for non-trackpad users</a:t>
            </a:r>
            <a:endParaRPr lang="en-US" sz="2800" dirty="0"/>
          </a:p>
        </p:txBody>
      </p:sp>
      <p:sp>
        <p:nvSpPr>
          <p:cNvPr id="7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27272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7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Settings UX Audit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717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 / 20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272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18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310896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0175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AFA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What's Working Well</a:t>
            </a:r>
            <a:endParaRPr lang="en-US" sz="6000" dirty="0"/>
          </a:p>
        </p:txBody>
      </p:sp>
      <p:sp>
        <p:nvSpPr>
          <p:cNvPr id="5" name="Shape 2"/>
          <p:cNvSpPr/>
          <p:nvPr/>
        </p:nvSpPr>
        <p:spPr>
          <a:xfrm>
            <a:off x="548640" y="3977640"/>
            <a:ext cx="2286000" cy="64008"/>
          </a:xfrm>
          <a:prstGeom prst="roundRect">
            <a:avLst>
              <a:gd name="adj" fmla="val 50000"/>
            </a:avLst>
          </a:prstGeom>
          <a:solidFill>
            <a:srgbClr val="17C96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27272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7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Settings UX Audit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717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 / 20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32004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228600"/>
            <a:ext cx="105457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AFA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Patterns Worth Protecting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548640" y="960120"/>
            <a:ext cx="5455768" cy="5349240"/>
          </a:xfrm>
          <a:prstGeom prst="roundRect">
            <a:avLst>
              <a:gd name="adj" fmla="val 2564"/>
            </a:avLst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1143000"/>
            <a:ext cx="49071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C96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SMART DEFAULTS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22960" y="1600200"/>
            <a:ext cx="4907128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Bef>
                <a:spcPts val="1000"/>
              </a:spcBef>
              <a:buSzPct val="100000"/>
              <a:buChar char="•"/>
            </a:pPr>
            <a:r>
              <a:rPr lang="en-US" sz="22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API Keys auto-opens create form when empty with "My first API key"</a:t>
            </a:r>
            <a:endParaRPr lang="en-US" sz="2200" dirty="0"/>
          </a:p>
          <a:p>
            <a:pPr marL="342900" indent="-342900">
              <a:lnSpc>
                <a:spcPct val="125000"/>
              </a:lnSpc>
              <a:spcBef>
                <a:spcPts val="1000"/>
              </a:spcBef>
              <a:buSzPct val="100000"/>
              <a:buChar char="•"/>
            </a:pPr>
            <a:r>
              <a:rPr lang="en-US" sz="22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OAuth presets pre-fill correct OIDC config for Google / GitHub</a:t>
            </a:r>
            <a:endParaRPr lang="en-US" sz="2200" dirty="0"/>
          </a:p>
          <a:p>
            <a:pPr marL="342900" indent="-342900">
              <a:lnSpc>
                <a:spcPct val="125000"/>
              </a:lnSpc>
              <a:spcBef>
                <a:spcPts val="1000"/>
              </a:spcBef>
              <a:buSzPct val="100000"/>
              <a:buChar char="•"/>
            </a:pPr>
            <a:r>
              <a:rPr lang="en-US" sz="22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LLM Provider combobox shows contextual fields via progressive disclosure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6187288" y="960120"/>
            <a:ext cx="5455768" cy="5349240"/>
          </a:xfrm>
          <a:prstGeom prst="roundRect">
            <a:avLst>
              <a:gd name="adj" fmla="val 2564"/>
            </a:avLst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61608" y="1143000"/>
            <a:ext cx="49071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C96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SOLID INTERACTIONS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461608" y="1600200"/>
            <a:ext cx="4907128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Bef>
                <a:spcPts val="1000"/>
              </a:spcBef>
              <a:buSzPct val="100000"/>
              <a:buChar char="•"/>
            </a:pPr>
            <a:r>
              <a:rPr lang="en-US" sz="22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Real-time API key validation with debounced server check</a:t>
            </a:r>
            <a:endParaRPr lang="en-US" sz="2200" dirty="0"/>
          </a:p>
          <a:p>
            <a:pPr marL="342900" indent="-342900">
              <a:lnSpc>
                <a:spcPct val="125000"/>
              </a:lnSpc>
              <a:spcBef>
                <a:spcPts val="1000"/>
              </a:spcBef>
              <a:buSzPct val="100000"/>
              <a:buChar char="•"/>
            </a:pPr>
            <a:r>
              <a:rPr lang="en-US" sz="22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Skills drag-and-drop import with overwrite conflict detection</a:t>
            </a:r>
            <a:endParaRPr lang="en-US" sz="2200" dirty="0"/>
          </a:p>
          <a:p>
            <a:pPr marL="342900" indent="-342900">
              <a:lnSpc>
                <a:spcPct val="125000"/>
              </a:lnSpc>
              <a:spcBef>
                <a:spcPts val="1000"/>
              </a:spcBef>
              <a:buSzPct val="100000"/>
              <a:buChar char="•"/>
            </a:pPr>
            <a:r>
              <a:rPr lang="en-US" sz="22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Custom LLM parameters: per-provider, per-model, type-aware inputs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27272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7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Settings UX Audit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717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13 / 20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272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</a:t>
            </a:r>
            <a:endParaRPr lang="en-US" sz="18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310896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0175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AFA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Performance &amp; Accessibility</a:t>
            </a:r>
            <a:endParaRPr lang="en-US" sz="6000" dirty="0"/>
          </a:p>
        </p:txBody>
      </p:sp>
      <p:sp>
        <p:nvSpPr>
          <p:cNvPr id="5" name="Shape 2"/>
          <p:cNvSpPr/>
          <p:nvPr/>
        </p:nvSpPr>
        <p:spPr>
          <a:xfrm>
            <a:off x="548640" y="3977640"/>
            <a:ext cx="2286000" cy="64008"/>
          </a:xfrm>
          <a:prstGeom prst="roundRect">
            <a:avLst>
              <a:gd name="adj" fmla="val 50000"/>
            </a:avLst>
          </a:prstGeom>
          <a:solidFill>
            <a:srgbClr val="17C96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27272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7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Settings UX Audit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717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 / 20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32004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228600"/>
            <a:ext cx="105457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AFA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Performance Flags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548640" y="960120"/>
            <a:ext cx="11094415" cy="5349240"/>
          </a:xfrm>
          <a:prstGeom prst="roundRect">
            <a:avLst>
              <a:gd name="adj" fmla="val 2564"/>
            </a:avLst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1143000"/>
            <a:ext cx="10545775" cy="4983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Bef>
                <a:spcPts val="1000"/>
              </a:spcBef>
              <a:buSzPct val="100000"/>
              <a:buChar char="•"/>
            </a:pPr>
            <a:r>
              <a:rPr lang="en-US" sz="28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provider-key-section.tsx: 13 useEffect hooks for prop syncing</a:t>
            </a:r>
            <a:endParaRPr lang="en-US" sz="2800" dirty="0"/>
          </a:p>
          <a:p>
            <a:pPr marL="342900" indent="-342900">
              <a:lnSpc>
                <a:spcPct val="125000"/>
              </a:lnSpc>
              <a:spcBef>
                <a:spcPts val="1000"/>
              </a:spcBef>
              <a:buSzPct val="100000"/>
              <a:buChar char="•"/>
            </a:pPr>
            <a:r>
              <a:rPr lang="en-US" sz="28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oauth-settings.tsx: 8 useEffect hooks, same pattern</a:t>
            </a:r>
            <a:endParaRPr lang="en-US" sz="2800" dirty="0"/>
          </a:p>
          <a:p>
            <a:pPr marL="342900" indent="-342900">
              <a:lnSpc>
                <a:spcPct val="125000"/>
              </a:lnSpc>
              <a:spcBef>
                <a:spcPts val="1000"/>
              </a:spcBef>
              <a:buSzPct val="100000"/>
              <a:buChar char="•"/>
            </a:pPr>
            <a:r>
              <a:rPr lang="en-US" sz="28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getUserProjects fetched twice, filtered client-side. getProjectById exists.</a:t>
            </a:r>
            <a:endParaRPr lang="en-US" sz="2800" dirty="0"/>
          </a:p>
          <a:p>
            <a:pPr marL="342900" indent="-342900">
              <a:lnSpc>
                <a:spcPct val="125000"/>
              </a:lnSpc>
              <a:spcBef>
                <a:spcPts val="1000"/>
              </a:spcBef>
              <a:buSzPct val="100000"/>
              <a:buChar char="•"/>
            </a:pPr>
            <a:r>
              <a:rPr lang="en-US" sz="28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Any section mutation re-renders all 7 sections via parent refresh</a:t>
            </a:r>
            <a:endParaRPr lang="en-US" sz="2800" dirty="0"/>
          </a:p>
        </p:txBody>
      </p:sp>
      <p:sp>
        <p:nvSpPr>
          <p:cNvPr id="7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27272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7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Settings UX Audit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717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 / 20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32004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228600"/>
            <a:ext cx="105457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AFA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Accessibility Gaps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548640" y="960120"/>
            <a:ext cx="11094415" cy="5349240"/>
          </a:xfrm>
          <a:prstGeom prst="roundRect">
            <a:avLst>
              <a:gd name="adj" fmla="val 2564"/>
            </a:avLst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1143000"/>
            <a:ext cx="10545775" cy="4983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Bef>
                <a:spcPts val="1000"/>
              </a:spcBef>
              <a:buSzPct val="100000"/>
              <a:buChar char="•"/>
            </a:pPr>
            <a:r>
              <a:rPr lang="en-US" sz="28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Sidebar has no &lt;nav&gt; landmark -- invisible to screen readers</a:t>
            </a:r>
            <a:endParaRPr lang="en-US" sz="2800" dirty="0"/>
          </a:p>
          <a:p>
            <a:pPr marL="342900" indent="-342900">
              <a:lnSpc>
                <a:spcPct val="125000"/>
              </a:lnSpc>
              <a:spcBef>
                <a:spcPts val="1000"/>
              </a:spcBef>
              <a:buSzPct val="100000"/>
              <a:buChar char="•"/>
            </a:pPr>
            <a:r>
              <a:rPr lang="en-US" sz="28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Delete/copy buttons lack aria-label -- just says "Delete"</a:t>
            </a:r>
            <a:endParaRPr lang="en-US" sz="2800" dirty="0"/>
          </a:p>
          <a:p>
            <a:pPr marL="342900" indent="-342900">
              <a:lnSpc>
                <a:spcPct val="125000"/>
              </a:lnSpc>
              <a:spcBef>
                <a:spcPts val="1000"/>
              </a:spcBef>
              <a:buSzPct val="100000"/>
              <a:buChar char="•"/>
            </a:pPr>
            <a:r>
              <a:rPr lang="en-US" sz="28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Mobile nav missing aria-expanded and aria-controls</a:t>
            </a:r>
            <a:endParaRPr lang="en-US" sz="2800" dirty="0"/>
          </a:p>
          <a:p>
            <a:pPr marL="342900" indent="-342900">
              <a:lnSpc>
                <a:spcPct val="125000"/>
              </a:lnSpc>
              <a:spcBef>
                <a:spcPts val="1000"/>
              </a:spcBef>
              <a:buSzPct val="100000"/>
              <a:buChar char="•"/>
            </a:pPr>
            <a:r>
              <a:rPr lang="en-US" sz="28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Model status badges use color only -- no icon differentiation</a:t>
            </a:r>
            <a:endParaRPr lang="en-US" sz="2800" dirty="0"/>
          </a:p>
          <a:p>
            <a:pPr marL="342900" indent="-342900">
              <a:lnSpc>
                <a:spcPct val="125000"/>
              </a:lnSpc>
              <a:spcBef>
                <a:spcPts val="1000"/>
              </a:spcBef>
              <a:buSzPct val="100000"/>
              <a:buChar char="•"/>
            </a:pPr>
            <a:r>
              <a:rPr lang="en-US" sz="28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Sidebar click scrolls page but does not move focus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27272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7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Settings UX Audit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717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 / 20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272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</a:t>
            </a:r>
            <a:endParaRPr lang="en-US" sz="18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310896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0175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AFA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Recommendations</a:t>
            </a:r>
            <a:endParaRPr lang="en-US" sz="6000" dirty="0"/>
          </a:p>
        </p:txBody>
      </p:sp>
      <p:sp>
        <p:nvSpPr>
          <p:cNvPr id="5" name="Shape 2"/>
          <p:cNvSpPr/>
          <p:nvPr/>
        </p:nvSpPr>
        <p:spPr>
          <a:xfrm>
            <a:off x="548640" y="3977640"/>
            <a:ext cx="2286000" cy="64008"/>
          </a:xfrm>
          <a:prstGeom prst="roundRect">
            <a:avLst>
              <a:gd name="adj" fmla="val 50000"/>
            </a:avLst>
          </a:prstGeom>
          <a:solidFill>
            <a:srgbClr val="17C96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27272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7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Settings UX Audit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717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17 / 20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32004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228600"/>
            <a:ext cx="105457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AFA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Fix Priority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548640" y="960120"/>
            <a:ext cx="11094415" cy="982066"/>
          </a:xfrm>
          <a:prstGeom prst="roundRect">
            <a:avLst>
              <a:gd name="adj" fmla="val 11173"/>
            </a:avLst>
          </a:prstGeom>
          <a:solidFill>
            <a:srgbClr val="310413"/>
          </a:solidFill>
          <a:ln w="9525">
            <a:solidFill>
              <a:srgbClr val="F31260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2960" y="1291133"/>
            <a:ext cx="320040" cy="3200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80160" y="960120"/>
            <a:ext cx="2194560" cy="982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312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BLOCKER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3474720" y="960120"/>
            <a:ext cx="7985455" cy="982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FAFA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Remove click-to-copy on masked API keys</a:t>
            </a:r>
            <a:endParaRPr lang="en-US" sz="2400" dirty="0"/>
          </a:p>
        </p:txBody>
      </p:sp>
      <p:sp>
        <p:nvSpPr>
          <p:cNvPr id="8" name="Shape 4"/>
          <p:cNvSpPr/>
          <p:nvPr/>
        </p:nvSpPr>
        <p:spPr>
          <a:xfrm>
            <a:off x="548640" y="2051914"/>
            <a:ext cx="11094415" cy="982066"/>
          </a:xfrm>
          <a:prstGeom prst="roundRect">
            <a:avLst>
              <a:gd name="adj" fmla="val 11173"/>
            </a:avLst>
          </a:prstGeom>
          <a:solidFill>
            <a:srgbClr val="310413"/>
          </a:solidFill>
          <a:ln w="9525">
            <a:solidFill>
              <a:srgbClr val="F31260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2382926"/>
            <a:ext cx="320040" cy="3200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80160" y="2051914"/>
            <a:ext cx="2194560" cy="982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3126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BLOCKER</a:t>
            </a:r>
            <a:endParaRPr lang="en-US" sz="2000" dirty="0"/>
          </a:p>
        </p:txBody>
      </p:sp>
      <p:sp>
        <p:nvSpPr>
          <p:cNvPr id="11" name="Text 6"/>
          <p:cNvSpPr/>
          <p:nvPr/>
        </p:nvSpPr>
        <p:spPr>
          <a:xfrm>
            <a:off x="3474720" y="2051914"/>
            <a:ext cx="7985455" cy="982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FAFA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Add clipboard feedback on all copy interactions</a:t>
            </a:r>
            <a:endParaRPr lang="en-US" sz="2400" dirty="0"/>
          </a:p>
        </p:txBody>
      </p:sp>
      <p:sp>
        <p:nvSpPr>
          <p:cNvPr id="12" name="Shape 7"/>
          <p:cNvSpPr/>
          <p:nvPr/>
        </p:nvSpPr>
        <p:spPr>
          <a:xfrm>
            <a:off x="548640" y="3143707"/>
            <a:ext cx="11094415" cy="982066"/>
          </a:xfrm>
          <a:prstGeom prst="roundRect">
            <a:avLst>
              <a:gd name="adj" fmla="val 11173"/>
            </a:avLst>
          </a:prstGeom>
          <a:solidFill>
            <a:srgbClr val="312107"/>
          </a:solidFill>
          <a:ln w="9525">
            <a:solidFill>
              <a:srgbClr val="F5A524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2960" y="3474720"/>
            <a:ext cx="320040" cy="32004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80160" y="3143707"/>
            <a:ext cx="2194560" cy="982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5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FRICTION</a:t>
            </a:r>
            <a:endParaRPr lang="en-US" sz="2000" dirty="0"/>
          </a:p>
        </p:txBody>
      </p:sp>
      <p:sp>
        <p:nvSpPr>
          <p:cNvPr id="15" name="Text 9"/>
          <p:cNvSpPr/>
          <p:nvPr/>
        </p:nvSpPr>
        <p:spPr>
          <a:xfrm>
            <a:off x="3474720" y="3143707"/>
            <a:ext cx="7985455" cy="982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FAFA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Add confirmation dialog to MCP server delete</a:t>
            </a:r>
            <a:endParaRPr lang="en-US" sz="2400" dirty="0"/>
          </a:p>
        </p:txBody>
      </p:sp>
      <p:sp>
        <p:nvSpPr>
          <p:cNvPr id="16" name="Shape 10"/>
          <p:cNvSpPr/>
          <p:nvPr/>
        </p:nvSpPr>
        <p:spPr>
          <a:xfrm>
            <a:off x="548640" y="4235501"/>
            <a:ext cx="11094415" cy="982066"/>
          </a:xfrm>
          <a:prstGeom prst="roundRect">
            <a:avLst>
              <a:gd name="adj" fmla="val 11173"/>
            </a:avLst>
          </a:prstGeom>
          <a:solidFill>
            <a:srgbClr val="312107"/>
          </a:solidFill>
          <a:ln w="9525">
            <a:solidFill>
              <a:srgbClr val="F5A524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22960" y="4566514"/>
            <a:ext cx="320040" cy="32004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80160" y="4235501"/>
            <a:ext cx="2194560" cy="982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5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FRICTION</a:t>
            </a:r>
            <a:endParaRPr lang="en-US" sz="2000" dirty="0"/>
          </a:p>
        </p:txBody>
      </p:sp>
      <p:sp>
        <p:nvSpPr>
          <p:cNvPr id="19" name="Text 12"/>
          <p:cNvSpPr/>
          <p:nvPr/>
        </p:nvSpPr>
        <p:spPr>
          <a:xfrm>
            <a:off x="3474720" y="4235501"/>
            <a:ext cx="7985455" cy="982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FAFA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Standardize toggle save -- all immediate with optimistic UI</a:t>
            </a:r>
            <a:endParaRPr lang="en-US" sz="2400" dirty="0"/>
          </a:p>
        </p:txBody>
      </p:sp>
      <p:sp>
        <p:nvSpPr>
          <p:cNvPr id="20" name="Shape 13"/>
          <p:cNvSpPr/>
          <p:nvPr/>
        </p:nvSpPr>
        <p:spPr>
          <a:xfrm>
            <a:off x="548640" y="5327294"/>
            <a:ext cx="11094415" cy="982066"/>
          </a:xfrm>
          <a:prstGeom prst="roundRect">
            <a:avLst>
              <a:gd name="adj" fmla="val 11173"/>
            </a:avLst>
          </a:prstGeom>
          <a:solidFill>
            <a:srgbClr val="312107"/>
          </a:solidFill>
          <a:ln w="9525">
            <a:solidFill>
              <a:srgbClr val="F5A524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22960" y="5658307"/>
            <a:ext cx="320040" cy="32004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280160" y="5327294"/>
            <a:ext cx="2194560" cy="982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52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FRICTION</a:t>
            </a:r>
            <a:endParaRPr lang="en-US" sz="2000" dirty="0"/>
          </a:p>
        </p:txBody>
      </p:sp>
      <p:sp>
        <p:nvSpPr>
          <p:cNvPr id="23" name="Text 15"/>
          <p:cNvSpPr/>
          <p:nvPr/>
        </p:nvSpPr>
        <p:spPr>
          <a:xfrm>
            <a:off x="3474720" y="5327294"/>
            <a:ext cx="7985455" cy="982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FAFA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Fix labels, scroll-tracking, unsaved-changes warning</a:t>
            </a:r>
            <a:endParaRPr lang="en-US" sz="2400" dirty="0"/>
          </a:p>
        </p:txBody>
      </p:sp>
      <p:sp>
        <p:nvSpPr>
          <p:cNvPr id="24" name="Shape 16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27272A"/>
            </a:solidFill>
            <a:prstDash val="solid"/>
          </a:ln>
        </p:spPr>
      </p:sp>
      <p:sp>
        <p:nvSpPr>
          <p:cNvPr id="25" name="Text 17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7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Settings UX Audit</a:t>
            </a:r>
            <a:endParaRPr lang="en-US" sz="1400" dirty="0"/>
          </a:p>
        </p:txBody>
      </p:sp>
      <p:sp>
        <p:nvSpPr>
          <p:cNvPr id="26" name="Text 18"/>
          <p:cNvSpPr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717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18 / 20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32004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228600"/>
            <a:ext cx="105457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AFA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Enhancements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548640" y="960120"/>
            <a:ext cx="11094415" cy="5349240"/>
          </a:xfrm>
          <a:prstGeom prst="roundRect">
            <a:avLst>
              <a:gd name="adj" fmla="val 2564"/>
            </a:avLst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1143000"/>
            <a:ext cx="10545775" cy="4983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Bef>
                <a:spcPts val="1000"/>
              </a:spcBef>
              <a:buSzPct val="100000"/>
              <a:buChar char="•"/>
            </a:pPr>
            <a:r>
              <a:rPr lang="en-US" sz="28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Neutral cancel buttons -- reserve red for destructive actions</a:t>
            </a:r>
            <a:endParaRPr lang="en-US" sz="2800" dirty="0"/>
          </a:p>
          <a:p>
            <a:pPr marL="342900" indent="-342900">
              <a:lnSpc>
                <a:spcPct val="125000"/>
              </a:lnSpc>
              <a:spcBef>
                <a:spcPts val="1000"/>
              </a:spcBef>
              <a:buSzPct val="100000"/>
              <a:buChar char="•"/>
            </a:pPr>
            <a:r>
              <a:rPr lang="en-US" sz="28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Standardize title casing in sidebar nav items</a:t>
            </a:r>
            <a:endParaRPr lang="en-US" sz="2800" dirty="0"/>
          </a:p>
          <a:p>
            <a:pPr marL="342900" indent="-342900">
              <a:lnSpc>
                <a:spcPct val="125000"/>
              </a:lnSpc>
              <a:spcBef>
                <a:spcPts val="1000"/>
              </a:spcBef>
              <a:buSzPct val="100000"/>
              <a:buChar char="•"/>
            </a:pPr>
            <a:r>
              <a:rPr lang="en-US" sz="28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 getProjectById instead of fetching full project list</a:t>
            </a:r>
            <a:endParaRPr lang="en-US" sz="2800" dirty="0"/>
          </a:p>
          <a:p>
            <a:pPr marL="342900" indent="-342900">
              <a:lnSpc>
                <a:spcPct val="125000"/>
              </a:lnSpc>
              <a:spcBef>
                <a:spcPts val="1000"/>
              </a:spcBef>
              <a:buSzPct val="100000"/>
              <a:buChar char="•"/>
            </a:pPr>
            <a:r>
              <a:rPr lang="en-US" sz="28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Consolidate useEffect hooks into single sync hook</a:t>
            </a:r>
            <a:endParaRPr lang="en-US" sz="2800" dirty="0"/>
          </a:p>
          <a:p>
            <a:pPr marL="342900" indent="-342900">
              <a:lnSpc>
                <a:spcPct val="125000"/>
              </a:lnSpc>
              <a:spcBef>
                <a:spcPts val="1000"/>
              </a:spcBef>
              <a:buSzPct val="100000"/>
              <a:buChar char="•"/>
            </a:pPr>
            <a:r>
              <a:rPr lang="en-US" sz="28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Add &lt;nav&gt; landmark and descriptive aria-labels</a:t>
            </a:r>
            <a:endParaRPr lang="en-US" sz="2800" dirty="0"/>
          </a:p>
          <a:p>
            <a:pPr marL="342900" indent="-342900">
              <a:lnSpc>
                <a:spcPct val="125000"/>
              </a:lnSpc>
              <a:spcBef>
                <a:spcPts val="1000"/>
              </a:spcBef>
              <a:buSzPct val="100000"/>
              <a:buChar char="•"/>
            </a:pPr>
            <a:r>
              <a:rPr lang="en-US" sz="28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Fix mobile nav disclosure pattern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27272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7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Settings UX Audit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717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19 / 20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7315200" cy="2743200"/>
          </a:xfrm>
          <a:prstGeom prst="roundRect">
            <a:avLst>
              <a:gd name="adj" fmla="val 5000"/>
            </a:avLst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37160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01168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AFAF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Discussion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914400" y="297180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7C96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devdocs/audits/settings-ux-audit-2026-04-02.md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6350">
            <a:solidFill>
              <a:srgbClr val="27272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7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Settings UX Audit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71717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 / 20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Settings UX Audit</dc:subject>
  <dc:creator>Seth Davis</dc:creator>
  <cp:lastModifiedBy>Seth Davis</cp:lastModifiedBy>
  <cp:revision>1</cp:revision>
  <dcterms:created xsi:type="dcterms:W3CDTF">2026-04-02T15:50:10Z</dcterms:created>
  <dcterms:modified xsi:type="dcterms:W3CDTF">2026-04-02T15:50:10Z</dcterms:modified>
</cp:coreProperties>
</file>